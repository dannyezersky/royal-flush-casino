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457200"/>
            <a:ext cx="5669280" cy="5669280"/>
          </a:xfrm>
          <a:prstGeom prst="ellipse">
            <a:avLst/>
          </a:prstGeom>
          <a:solidFill>
            <a:srgbClr val="142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ROYAL FLUSH CASINO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Royal Spin Feature
A/B Test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29000"/>
            <a:ext cx="11274552" cy="254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Calibri"/>
              </a:rPr>
              <a:t>Experiment period: July 1 – September 28,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Calibri"/>
              </a:rPr>
              <a:t>SpinCrown Studios  |  Data &amp; Analytics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4754880"/>
            <a:ext cx="2834640" cy="16459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48463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ARPU LIFT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166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D4AF37"/>
                </a:solidFill>
                <a:latin typeface="Calibri"/>
              </a:rPr>
              <a:t>+40%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5760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$16.56  →  $23.17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618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17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Test Setup &amp;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8872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2618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1417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Headline Result — ARPU +40%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9631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51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Royal Token Revenue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42316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49631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651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Segment Deep-Dive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5760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73075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886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Platform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65760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73075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886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Guardrail Metrics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9204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9651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1206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Test Setup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Royal Spin — a new premium spin mechanic funded by Royal Tokens (in-app currency)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394960" cy="34747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5394960" cy="4114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3E"/>
                </a:solidFill>
                <a:latin typeface="Calibri"/>
              </a:rPr>
              <a:t>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Standard coin-based spins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No Royal Token 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~12,500 players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Baseline period: Apr – Jun 2024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097280"/>
            <a:ext cx="5394960" cy="34747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097280"/>
            <a:ext cx="5394960" cy="4114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115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3E"/>
                </a:solidFill>
                <a:latin typeface="Calibri"/>
              </a:rPr>
              <a:t>TREATMENT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691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Royal Spin mechanic unlocked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Royal Tokens purchasable via IAP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803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~12,500 players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4747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Experiment: Jul – Sep 2024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54880"/>
            <a:ext cx="11274552" cy="173736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Players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50,000 total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Simulation Period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181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Segments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Minnow · Dolphin · Whale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Platforms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iOS · Android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Markets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US · UK · DE · CA · AU · Other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Headline Result — ARPU +40%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Treatment group generated significantly more revenue per user with no engagement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ARPU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$23.17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C71"/>
                </a:solidFill>
                <a:latin typeface="Calibri"/>
              </a:rPr>
              <a:t>▲ +40%  vs $16.56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7288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Conversion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8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19.23%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C71"/>
                </a:solidFill>
                <a:latin typeface="Calibri"/>
              </a:rPr>
              <a:t>▲ +0.91pp  vs 18.32%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216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FTD 30-Day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16.66%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C71"/>
                </a:solidFill>
                <a:latin typeface="Calibri"/>
              </a:rPr>
              <a:t>▲ +0.82pp  vs 15.84%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5984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3144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Avg Spins / Session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3144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70.77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C71"/>
                </a:solidFill>
                <a:latin typeface="Calibri"/>
              </a:rPr>
              <a:t>▲ +1.32  vs 69.45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697480"/>
            <a:ext cx="11274552" cy="34747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D1 Retention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D7 Retention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D30 Retention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44952"/>
            <a:ext cx="11274552" cy="530352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Control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25.97%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20.89%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7.23%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593592"/>
            <a:ext cx="11274552" cy="530352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Treatment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25.53%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21.16%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7.82%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2519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CCCC"/>
                </a:solidFill>
                <a:latin typeface="Calibri"/>
              </a:rPr>
              <a:t>Retention is statistically flat between groups — the Royal Spin feature did not harm engagement.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709160"/>
            <a:ext cx="11274552" cy="178308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800600"/>
            <a:ext cx="109087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KEY TAKEAWAY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166360"/>
            <a:ext cx="10908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Treatment players spent 40% more on average than Control, while session engagement remained identical. The ARPU lift is driven purely by monetisation, not playtime inflation.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Royal Token Revenue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8.39% of Treatment players adopted Royal Tokens — and contributed 23% of all Treatment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303520" cy="4114800"/>
          </a:xfrm>
          <a:prstGeom prst="rect">
            <a:avLst/>
          </a:prstGeom>
          <a:solidFill>
            <a:srgbClr val="1A2D5A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ROYAL TOKEN ADOPTERS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Calibri"/>
              </a:rPr>
              <a:t>8.39%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CCCC"/>
                </a:solidFill>
                <a:latin typeface="Calibri"/>
              </a:rPr>
              <a:t>of Treatment players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17520"/>
            <a:ext cx="11274552" cy="127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REVENUE GENERATED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$55,419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CCCC"/>
                </a:solidFill>
                <a:latin typeface="Calibri"/>
              </a:rPr>
              <a:t>in Royal Token transactions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05840"/>
            <a:ext cx="5669280" cy="4114800"/>
          </a:xfrm>
          <a:prstGeom prst="rect">
            <a:avLst/>
          </a:prstGeom>
          <a:solidFill>
            <a:srgbClr val="1A2D5A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TREATMENT REVENUE BREAKDOWN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8288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Coin Purchases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176272"/>
            <a:ext cx="3790224" cy="502920"/>
          </a:xfrm>
          <a:prstGeom prst="rect">
            <a:avLst/>
          </a:prstGeom>
          <a:solidFill>
            <a:srgbClr val="418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91024" y="217627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18CF0"/>
                </a:solidFill>
                <a:latin typeface="Calibri"/>
              </a:rPr>
              <a:t>76.76%  $183,089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Royal Tokens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22192"/>
            <a:ext cx="1147535" cy="5029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48335" y="38221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23.24%  $55,419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5166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Total Treatment Revenue: $238,508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57800"/>
            <a:ext cx="11274552" cy="128016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49240"/>
            <a:ext cx="10908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KEY TAKEAWAY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669280"/>
            <a:ext cx="1090879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 small fraction of players drove an outsized share of revenue — a classic high-value cohort effect amplified by the Royal Spin mechanic.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Segment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Whales drove the lift — but Dolphin cannibalization is a concern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3840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7840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9784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Control ARPU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9784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Treatment ARPU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9784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978408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44168"/>
            <a:ext cx="11274552" cy="640080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Whale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508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$414.30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508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$557.38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5087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ECC71"/>
                </a:solidFill>
                <a:latin typeface="Calibri"/>
              </a:rPr>
              <a:t>+34.5%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508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Strong lift — additive token model working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002536"/>
            <a:ext cx="11274552" cy="640080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16712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Dolphin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1671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$18.56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1671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$15.02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16712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74C3C"/>
                </a:solidFill>
                <a:latin typeface="Calibri"/>
              </a:rPr>
              <a:t>-19.1%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16712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Cannibalization: Royal Tokens replaced coin spend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660904"/>
            <a:ext cx="11274552" cy="640080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8254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Minnow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2825496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$0.38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282549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$0.34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825496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39C12"/>
                </a:solidFill>
                <a:latin typeface="Calibri"/>
              </a:rPr>
              <a:t>-10.5%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825496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Negligible impact either way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383280"/>
            <a:ext cx="5486400" cy="2286000"/>
          </a:xfrm>
          <a:prstGeom prst="rect">
            <a:avLst/>
          </a:prstGeom>
          <a:solidFill>
            <a:srgbClr val="2C1010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474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Calibri"/>
              </a:rPr>
              <a:t>DOLPHIN CANNIBALIZATION DETAIL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Coin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Royal Token Revenue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Control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$15,512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947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Treatment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$9,704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$3,905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Net change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945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Calibri"/>
              </a:rPr>
              <a:t>-$5,808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+$3,905  =  -$1,903 net loss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383280"/>
            <a:ext cx="5486400" cy="2286000"/>
          </a:xfrm>
          <a:prstGeom prst="rect">
            <a:avLst/>
          </a:prstGeom>
          <a:solidFill>
            <a:srgbClr val="0D2A1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474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CC71"/>
                </a:solidFill>
                <a:latin typeface="Calibri"/>
              </a:rPr>
              <a:t>WHALE REVENUE SHARE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3840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Control:    88.8% of group revenue from Whales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4251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Treatment:  93.0% of group revenue from Whales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6634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Treatment is more Whale-dependent — revenue base
is more sensitive to Whale churn.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806440"/>
            <a:ext cx="11274552" cy="77724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897880"/>
            <a:ext cx="109087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RISK: Before full rollout, address Dolphin cannibalization — the substitutive token model cost more in lost coin revenue than it earned in token revenue.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Platform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The Royal Spin lift is an iOS story — Android saw minimal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486400" cy="475488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00" cy="4114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3327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1B3E"/>
                </a:solidFill>
                <a:latin typeface="Calibri"/>
              </a:rPr>
              <a:t>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Control ARPU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$17.65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Treatment ARPU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D4AF37"/>
                </a:solidFill>
                <a:latin typeface="Calibri"/>
              </a:rPr>
              <a:t>$28.08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3520440"/>
            <a:ext cx="2743200" cy="5486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354787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+59.1%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005840"/>
            <a:ext cx="5486400" cy="475488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005840"/>
            <a:ext cx="5486400" cy="4114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03327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1B3E"/>
                </a:solidFill>
                <a:latin typeface="Calibri"/>
              </a:rPr>
              <a:t>Android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5544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Control ARPU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874519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$15.09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514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Treatment ARPU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346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D4AF37"/>
                </a:solidFill>
                <a:latin typeface="Calibri"/>
              </a:rPr>
              <a:t>$16.46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3520440"/>
            <a:ext cx="2743200" cy="548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354787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+9.1%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897880"/>
            <a:ext cx="11274552" cy="68580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961888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iOS players responded 6.5× more strongly to the Royal Spin feature than Android players. Prioritise iOS in rollout targeting and marketing spend.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Guardrail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Engagement held firm — revenue concentration is the only structural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3385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D1 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13385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25.53% T  vs  25.97%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13385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No meaningful change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55064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64792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830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178308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D7 Retention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7830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21.16% T  vs  20.89%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178308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Slight positive trend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304288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414016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432304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432304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D30 Retention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243230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7.82% T  vs  7.23%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2432304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Slight positive trend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953512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063240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081528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08152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Avg Active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308152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5.4 T  vs  5.2 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308152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No churn signal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602736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712464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730752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373075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Spins / Session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730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70.77 T  vs  69.45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3730752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Engagement unchanged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251960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4361688"/>
            <a:ext cx="777240" cy="411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379976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37997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Dolphin Revenue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437997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$15.02 T  vs  $18.56 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437997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Cannibalization confirmed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01184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5010912"/>
            <a:ext cx="777240" cy="411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0292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02920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Whale Revenue Share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0" y="50292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93.0% T  vs  88.8% 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502920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Increased concentration risk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669280"/>
            <a:ext cx="11274552" cy="91440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760720"/>
            <a:ext cx="10908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SUMMARY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6053328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No engagement or churn guardrails were triggered. The two WATCH items are known model effects (substitutive pricing for Dolphins; Whale concentration) — not surprises.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Ship Royal Spin — with one fix before broad rollout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685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VERDICT:  SHIP  —  Royal Spin delivers a statistically meaningful +40% ARPU lift with no engagement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3657600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SHIP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Roll out Royal Spin to all Whale players on 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Strongest signal group: iOS Whales saw +59% ARPU and +34% segment ARPU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Additive token model means no cannibalization risk for this segment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8.39% Royal Token adoption rate driving 23% of Treatment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828800"/>
            <a:ext cx="3657600" cy="38404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FIX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Redesign Dolphin token pricing before broad rollout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Substitutive model cost Dolphins more in lost coin revenue than token revenue gained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Net Dolphin loss: -$1,903 across the experiment cohort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Consider additive-only token model for Dolphins, or tiered pricing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418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828800"/>
            <a:ext cx="3657600" cy="384048"/>
          </a:xfrm>
          <a:prstGeom prst="rect">
            <a:avLst/>
          </a:prstGeom>
          <a:solidFill>
            <a:srgbClr val="418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Track Whale retention and revenue concentration post-launch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Treatment revenue is 93% Whale-dependent vs 88.8% in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Set up weekly Whale churn alert (&gt;2pp above baseline)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Review Android performance separately — only +9% ARPU lift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Royal Flush Casino  |  SpinCrown Studios  |  Data &amp; Analytics  | 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