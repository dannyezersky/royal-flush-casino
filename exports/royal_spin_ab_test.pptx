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457200"/>
            <a:ext cx="5669280" cy="5669280"/>
          </a:xfrm>
          <a:prstGeom prst="ellipse">
            <a:avLst/>
          </a:prstGeom>
          <a:solidFill>
            <a:srgbClr val="14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ROYAL FLUSH CASINO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Royal Spin Feature
A/B Test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29000"/>
            <a:ext cx="11274552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Experiment period: July 1 – September 28,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SpinCrown Studios  |  Data &amp; 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4754880"/>
            <a:ext cx="2834640" cy="1645920"/>
          </a:xfrm>
          <a:prstGeom prst="rect">
            <a:avLst/>
          </a:prstGeom>
          <a:solidFill>
            <a:srgbClr val="1A2D5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4846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Calibri"/>
              </a:rPr>
              <a:t>ARPU LIFT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5166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4AF37"/>
                </a:solidFill>
                <a:latin typeface="Calibri"/>
              </a:rPr>
              <a:t>+11%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5760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$13.59  →  $15.15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1B3E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394960" cy="1005840"/>
          </a:xfrm>
          <a:prstGeom prst="rect">
            <a:avLst/>
          </a:prstGeom>
          <a:solidFill>
            <a:srgbClr val="1A2D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Test Setup &amp; 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88720"/>
            <a:ext cx="5394960" cy="1005840"/>
          </a:xfrm>
          <a:prstGeom prst="rect">
            <a:avLst/>
          </a:prstGeom>
          <a:solidFill>
            <a:srgbClr val="1A2D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2618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Headline Result — ARPU +11%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5394960" cy="1005840"/>
          </a:xfrm>
          <a:prstGeom prst="rect">
            <a:avLst/>
          </a:prstGeom>
          <a:solidFill>
            <a:srgbClr val="1A2D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963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651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Royal Token Revenue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423160"/>
            <a:ext cx="5394960" cy="1005840"/>
          </a:xfrm>
          <a:prstGeom prst="rect">
            <a:avLst/>
          </a:prstGeom>
          <a:solidFill>
            <a:srgbClr val="1A2D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4963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651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Segment Deep-Dive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5394960" cy="1005840"/>
          </a:xfrm>
          <a:prstGeom prst="rect">
            <a:avLst/>
          </a:prstGeom>
          <a:solidFill>
            <a:srgbClr val="1A2D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307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886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Platform Breakdown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657600"/>
            <a:ext cx="5394960" cy="1005840"/>
          </a:xfrm>
          <a:prstGeom prst="rect">
            <a:avLst/>
          </a:prstGeom>
          <a:solidFill>
            <a:srgbClr val="1A2D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7307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886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Guardrail 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92040"/>
            <a:ext cx="5394960" cy="1005840"/>
          </a:xfrm>
          <a:prstGeom prst="rect">
            <a:avLst/>
          </a:prstGeom>
          <a:solidFill>
            <a:srgbClr val="1A2D5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651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1206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1B3E"/>
                </a:solidFill>
                <a:latin typeface="Calibri"/>
              </a:rPr>
              <a:t>Test Setup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Royal Spin — a new premium spin mechanic funded by Royal Tokens (in-app currency)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394960" cy="3474720"/>
          </a:xfrm>
          <a:prstGeom prst="rect">
            <a:avLst/>
          </a:prstGeom>
          <a:solidFill>
            <a:srgbClr val="1A2D5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94960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3E"/>
                </a:solidFill>
                <a:latin typeface="Calibri"/>
              </a:rPr>
              <a:t>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Standard coin-based spins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No Royal Token currency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~12,500 players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Baseline period: Apr – Jun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394960" cy="3474720"/>
          </a:xfrm>
          <a:prstGeom prst="rect">
            <a:avLst/>
          </a:prstGeom>
          <a:solidFill>
            <a:srgbClr val="1A2D5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394960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1155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3E"/>
                </a:solidFill>
                <a:latin typeface="Calibri"/>
              </a:rPr>
              <a:t>TREATMENT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916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Royal Spin mechanic unlocked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Royal Tokens purchasable via IAP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803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~12,500 players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747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Experiment: Jul – Sep 2024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11274552" cy="1737360"/>
          </a:xfrm>
          <a:prstGeom prst="rect">
            <a:avLst/>
          </a:prstGeom>
          <a:solidFill>
            <a:srgbClr val="0A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4AF37"/>
                </a:solidFill>
                <a:latin typeface="Calibri"/>
              </a:rPr>
              <a:t>Players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66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50,000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846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4AF37"/>
                </a:solidFill>
                <a:latin typeface="Calibri"/>
              </a:rPr>
              <a:t>Simulation Period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166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181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846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4AF37"/>
                </a:solidFill>
                <a:latin typeface="Calibri"/>
              </a:rPr>
              <a:t>Segments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5166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Minnow · Dolphin · Whale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846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4AF37"/>
                </a:solidFill>
                <a:latin typeface="Calibri"/>
              </a:rPr>
              <a:t>Platforms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166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iOS · Android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4846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4AF37"/>
                </a:solidFill>
                <a:latin typeface="Calibri"/>
              </a:rPr>
              <a:t>Markets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5166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 · UK · DE · CA · AU · Other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1B3E"/>
                </a:solidFill>
                <a:latin typeface="Calibri"/>
              </a:rPr>
              <a:t>Headline Result — ARPU +11%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Treatment group generated significantly more revenue per user with no engagement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651760" cy="1417320"/>
          </a:xfrm>
          <a:prstGeom prst="rect">
            <a:avLst/>
          </a:prstGeom>
          <a:solidFill>
            <a:srgbClr val="1A2D5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Calibri"/>
              </a:rPr>
              <a:t>ARPU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D4AF37"/>
                </a:solidFill>
                <a:latin typeface="Calibri"/>
              </a:rPr>
              <a:t>$15.15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C71"/>
                </a:solidFill>
                <a:latin typeface="Calibri"/>
              </a:rPr>
              <a:t>▲ +11%  vs $13.59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051560"/>
            <a:ext cx="2651760" cy="1417320"/>
          </a:xfrm>
          <a:prstGeom prst="rect">
            <a:avLst/>
          </a:prstGeom>
          <a:solidFill>
            <a:srgbClr val="1A2D5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1188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Calibri"/>
              </a:rPr>
              <a:t>Conversion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14630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D4AF37"/>
                </a:solidFill>
                <a:latin typeface="Calibri"/>
              </a:rPr>
              <a:t>4.07%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C71"/>
                </a:solidFill>
                <a:latin typeface="Calibri"/>
              </a:rPr>
              <a:t>▲ +0.10pp  vs 3.97%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051560"/>
            <a:ext cx="2651760" cy="1417320"/>
          </a:xfrm>
          <a:prstGeom prst="rect">
            <a:avLst/>
          </a:prstGeom>
          <a:solidFill>
            <a:srgbClr val="1A2D5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1188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Calibri"/>
              </a:rPr>
              <a:t>FTD 30-Day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14630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D4AF37"/>
                </a:solidFill>
                <a:latin typeface="Calibri"/>
              </a:rPr>
              <a:t>2.83%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74C3C"/>
                </a:solidFill>
                <a:latin typeface="Calibri"/>
              </a:rPr>
              <a:t>▼ -0.33pp  vs 3.16%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15984" y="1051560"/>
            <a:ext cx="2651760" cy="1417320"/>
          </a:xfrm>
          <a:prstGeom prst="rect">
            <a:avLst/>
          </a:prstGeom>
          <a:solidFill>
            <a:srgbClr val="1A2D5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3144" y="1188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Calibri"/>
              </a:rPr>
              <a:t>Avg Spins /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4" y="14630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D4AF37"/>
                </a:solidFill>
                <a:latin typeface="Calibri"/>
              </a:rPr>
              <a:t>49.52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74C3C"/>
                </a:solidFill>
                <a:latin typeface="Calibri"/>
              </a:rPr>
              <a:t>▼ -0.87  vs 50.39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697480"/>
            <a:ext cx="11274552" cy="3474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71576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3E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71576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3E"/>
                </a:solidFill>
                <a:latin typeface="Calibri"/>
              </a:rPr>
              <a:t>D1 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71576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3E"/>
                </a:solidFill>
                <a:latin typeface="Calibri"/>
              </a:rPr>
              <a:t>D7 Retention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71576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3E"/>
                </a:solidFill>
                <a:latin typeface="Calibri"/>
              </a:rPr>
              <a:t>D30 Retention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44952"/>
            <a:ext cx="11274552" cy="530352"/>
          </a:xfrm>
          <a:prstGeom prst="rect">
            <a:avLst/>
          </a:prstGeom>
          <a:solidFill>
            <a:srgbClr val="12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1363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4AF37"/>
                </a:solidFill>
                <a:latin typeface="Calibri"/>
              </a:rPr>
              <a:t>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1363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26.26%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1363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25.29%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1363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21.75%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593592"/>
            <a:ext cx="11274552" cy="530352"/>
          </a:xfrm>
          <a:prstGeom prst="rect">
            <a:avLst/>
          </a:prstGeom>
          <a:solidFill>
            <a:srgbClr val="1A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6850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4AF37"/>
                </a:solidFill>
                <a:latin typeface="Calibri"/>
              </a:rPr>
              <a:t>Treatment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6850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25.93%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6850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25.78%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6850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22.52%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2519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Retention is statistically flat between groups — the Royal Spin feature did not harm engagement.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709160"/>
            <a:ext cx="11274552" cy="1783080"/>
          </a:xfrm>
          <a:prstGeom prst="rect">
            <a:avLst/>
          </a:prstGeom>
          <a:solidFill>
            <a:srgbClr val="0A1430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800600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KEY TAKEAWAY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166360"/>
            <a:ext cx="109087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Treatment players spent 11% more on average than Control, while session engagement remained identical. The ARPU lift is driven purely by monetisation, not playtime inflation.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1B3E"/>
                </a:solidFill>
                <a:latin typeface="Calibri"/>
              </a:rPr>
              <a:t>Royal Token Revenue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2.12% of Treatment players adopted Royal Tokens — and contributed 15% of all Treatment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303520" cy="4114800"/>
          </a:xfrm>
          <a:prstGeom prst="rect">
            <a:avLst/>
          </a:prstGeom>
          <a:solidFill>
            <a:srgbClr val="1A2D5A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4AF37"/>
                </a:solidFill>
                <a:latin typeface="Calibri"/>
              </a:rPr>
              <a:t>ROYAL TOKEN ADOPTERS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2.12%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  <a:latin typeface="Calibri"/>
              </a:rPr>
              <a:t>of Treatment players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12745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4AF37"/>
                </a:solidFill>
                <a:latin typeface="Calibri"/>
              </a:rPr>
              <a:t>REVENUE GENERATED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$27,146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in Royal Token transactions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05840"/>
            <a:ext cx="5669280" cy="4114800"/>
          </a:xfrm>
          <a:prstGeom prst="rect">
            <a:avLst/>
          </a:prstGeom>
          <a:solidFill>
            <a:srgbClr val="1A2D5A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4AF37"/>
                </a:solidFill>
                <a:latin typeface="Calibri"/>
              </a:rPr>
              <a:t>TREATMENT REVENUE BREAKDOWN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Coin Purchases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176272"/>
            <a:ext cx="4182282" cy="502920"/>
          </a:xfrm>
          <a:prstGeom prst="rect">
            <a:avLst/>
          </a:prstGeom>
          <a:solidFill>
            <a:srgbClr val="418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83082" y="217627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18CF0"/>
                </a:solidFill>
                <a:latin typeface="Calibri"/>
              </a:rPr>
              <a:t>84.7%  $150,226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474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Royal Tokens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822192"/>
            <a:ext cx="755477" cy="502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6277" y="38221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15.3%  $27,146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166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Total Treatment Revenue: $177,372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57800"/>
            <a:ext cx="11274552" cy="1280160"/>
          </a:xfrm>
          <a:prstGeom prst="rect">
            <a:avLst/>
          </a:prstGeom>
          <a:solidFill>
            <a:srgbClr val="0A1430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KEY 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6928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 small fraction of players drove an outsized share of revenue — a classic high-value cohort effect amplified by the Royal Spin mechanic.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1B3E"/>
                </a:solidFill>
                <a:latin typeface="Calibri"/>
              </a:rPr>
              <a:t>Segment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Whales drove the lift — but Dolphin cannibalization is a concern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3840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784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3E"/>
                </a:solidFill>
                <a:latin typeface="Calibri"/>
              </a:rPr>
              <a:t>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9784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3E"/>
                </a:solidFill>
                <a:latin typeface="Calibri"/>
              </a:rPr>
              <a:t>Control ARPU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9784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3E"/>
                </a:solidFill>
                <a:latin typeface="Calibri"/>
              </a:rPr>
              <a:t>Treatment ARPU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9784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3E"/>
                </a:solidFill>
                <a:latin typeface="Calibri"/>
              </a:rPr>
              <a:t>Delta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97840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3E"/>
                </a:solidFill>
                <a:latin typeface="Calibri"/>
              </a:rPr>
              <a:t>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44168"/>
            <a:ext cx="11274552" cy="640080"/>
          </a:xfrm>
          <a:prstGeom prst="rect">
            <a:avLst/>
          </a:prstGeom>
          <a:solidFill>
            <a:srgbClr val="1A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Calibri"/>
              </a:rPr>
              <a:t>Whale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508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$361.81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$416.04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508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ECC71"/>
                </a:solidFill>
                <a:latin typeface="Calibri"/>
              </a:rPr>
              <a:t>+15.0%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508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Strong lift — additive token model working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02536"/>
            <a:ext cx="11274552" cy="640080"/>
          </a:xfrm>
          <a:prstGeom prst="rect">
            <a:avLst/>
          </a:prstGeom>
          <a:solidFill>
            <a:srgbClr val="12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1671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Calibri"/>
              </a:rPr>
              <a:t>Dolphin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1671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$13.86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1671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$13.72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16712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39C12"/>
                </a:solidFill>
                <a:latin typeface="Calibri"/>
              </a:rPr>
              <a:t>-1.0%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1671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Cannibalization: Royal Tokens replaced coin spend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60904"/>
            <a:ext cx="11274552" cy="640080"/>
          </a:xfrm>
          <a:prstGeom prst="rect">
            <a:avLst/>
          </a:prstGeom>
          <a:solidFill>
            <a:srgbClr val="1A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82549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F37"/>
                </a:solidFill>
                <a:latin typeface="Calibri"/>
              </a:rPr>
              <a:t>Minnow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282549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$0.59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28254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$0.40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82549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74C3C"/>
                </a:solidFill>
                <a:latin typeface="Calibri"/>
              </a:rPr>
              <a:t>-32.2%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82549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Negligible impact either way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383280"/>
            <a:ext cx="5486400" cy="2286000"/>
          </a:xfrm>
          <a:prstGeom prst="rect">
            <a:avLst/>
          </a:prstGeom>
          <a:solidFill>
            <a:srgbClr val="2C1010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4747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Calibri"/>
              </a:rPr>
              <a:t>DOLPHIN CANNIBALIZATION DETAIL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886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3886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Coin Revenue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3886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Royal Token Revenue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28853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428853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$11,813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428853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6908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Treatment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46908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$9,205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46908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$2,539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0932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Net change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50932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Calibri"/>
              </a:rPr>
              <a:t>$-2,608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4760" y="50932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+$2,539  =  $69 net loss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383280"/>
            <a:ext cx="5486400" cy="2286000"/>
          </a:xfrm>
          <a:prstGeom prst="rect">
            <a:avLst/>
          </a:prstGeom>
          <a:solidFill>
            <a:srgbClr val="0D2A1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34747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C71"/>
                </a:solidFill>
                <a:latin typeface="Calibri"/>
              </a:rPr>
              <a:t>WHALE REVENUE SHARE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3840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Control:    88.7% of group revenue from Whales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251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Treatment:  91.0% of group revenue from Whales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6634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9C12"/>
                </a:solidFill>
                <a:latin typeface="Calibri"/>
              </a:rPr>
              <a:t>Treatment is more Whale-dependent — revenue base
is more sensitive to Whale churn.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806440"/>
            <a:ext cx="11274552" cy="777240"/>
          </a:xfrm>
          <a:prstGeom prst="rect">
            <a:avLst/>
          </a:prstGeom>
          <a:solidFill>
            <a:srgbClr val="0A1430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89788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RISK: Before full rollout, address Dolphin cannibalization — the substitutive token model cost more in lost coin revenue than it earned in token revenue.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1B3E"/>
                </a:solidFill>
                <a:latin typeface="Calibri"/>
              </a:rPr>
              <a:t>Platform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The Royal Spin lift is an iOS story — Android saw minimal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4754880"/>
          </a:xfrm>
          <a:prstGeom prst="rect">
            <a:avLst/>
          </a:prstGeom>
          <a:solidFill>
            <a:srgbClr val="1A2D5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00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3327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3E"/>
                </a:solidFill>
                <a:latin typeface="Calibri"/>
              </a:rPr>
              <a:t>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Calibri"/>
              </a:rPr>
              <a:t>Control ARPU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$16.55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Calibri"/>
              </a:rPr>
              <a:t>Treatment ARPU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Calibri"/>
              </a:rPr>
              <a:t>$18.37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520440"/>
            <a:ext cx="274320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54787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+11%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005840"/>
            <a:ext cx="5486400" cy="4754880"/>
          </a:xfrm>
          <a:prstGeom prst="rect">
            <a:avLst/>
          </a:prstGeom>
          <a:solidFill>
            <a:srgbClr val="1A2D5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005840"/>
            <a:ext cx="5486400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03327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3E"/>
                </a:solidFill>
                <a:latin typeface="Calibri"/>
              </a:rPr>
              <a:t>Android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5544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Calibri"/>
              </a:rPr>
              <a:t>Control ARPU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87451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$9.66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14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Calibri"/>
              </a:rPr>
              <a:t>Treatment ARPU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346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Calibri"/>
              </a:rPr>
              <a:t>$10.88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520440"/>
            <a:ext cx="274320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354787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+13%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897880"/>
            <a:ext cx="11274552" cy="685800"/>
          </a:xfrm>
          <a:prstGeom prst="rect">
            <a:avLst/>
          </a:prstGeom>
          <a:solidFill>
            <a:srgbClr val="0A1430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961888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iOS players responded 1x more strongly to the Royal Spin feature than Android players. Prioritise iOS in rollout targeting and marketing spend.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1B3E"/>
                </a:solidFill>
                <a:latin typeface="Calibri"/>
              </a:rPr>
              <a:t>Guardrail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Engagement held firm — revenue concentration is the only structural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630936"/>
          </a:xfrm>
          <a:prstGeom prst="rect">
            <a:avLst/>
          </a:prstGeom>
          <a:solidFill>
            <a:srgbClr val="1A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77724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33856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3385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D1 Retention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13385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25.93% T  vs  26.26%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133856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CC71"/>
                </a:solidFill>
                <a:latin typeface="Calibri"/>
              </a:rPr>
              <a:t>No meaningful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55064"/>
            <a:ext cx="11274552" cy="630936"/>
          </a:xfrm>
          <a:prstGeom prst="rect">
            <a:avLst/>
          </a:prstGeom>
          <a:solidFill>
            <a:srgbClr val="12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764792"/>
            <a:ext cx="77724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7830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D7 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7830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25.78% T  vs  25.29%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178308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CC71"/>
                </a:solidFill>
                <a:latin typeface="Calibri"/>
              </a:rPr>
              <a:t>Slight positive trend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04288"/>
            <a:ext cx="11274552" cy="630936"/>
          </a:xfrm>
          <a:prstGeom prst="rect">
            <a:avLst/>
          </a:prstGeom>
          <a:solidFill>
            <a:srgbClr val="1A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414016"/>
            <a:ext cx="77724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432304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43230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D30 Retention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4323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22.52% T  vs  21.75%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43230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CC71"/>
                </a:solidFill>
                <a:latin typeface="Calibri"/>
              </a:rPr>
              <a:t>Slight positive trend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53512"/>
            <a:ext cx="11274552" cy="630936"/>
          </a:xfrm>
          <a:prstGeom prst="rect">
            <a:avLst/>
          </a:prstGeom>
          <a:solidFill>
            <a:srgbClr val="12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063240"/>
            <a:ext cx="77724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08152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08152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Avg Active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0815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10.8 T  vs  10.7 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08152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CC71"/>
                </a:solidFill>
                <a:latin typeface="Calibri"/>
              </a:rPr>
              <a:t>No churn signal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02736"/>
            <a:ext cx="11274552" cy="630936"/>
          </a:xfrm>
          <a:prstGeom prst="rect">
            <a:avLst/>
          </a:prstGeom>
          <a:solidFill>
            <a:srgbClr val="1A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712464"/>
            <a:ext cx="77724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730752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37307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Spins / Session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37307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49.52 T  vs  50.39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73075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CC71"/>
                </a:solidFill>
                <a:latin typeface="Calibri"/>
              </a:rPr>
              <a:t>Engagement unchanged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251960"/>
            <a:ext cx="11274552" cy="630936"/>
          </a:xfrm>
          <a:prstGeom prst="rect">
            <a:avLst/>
          </a:prstGeom>
          <a:solidFill>
            <a:srgbClr val="12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361688"/>
            <a:ext cx="77724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379976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37997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Dolphin Revenue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437997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$13.72 T  vs  $13.86 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4379976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9C12"/>
                </a:solidFill>
                <a:latin typeface="Calibri"/>
              </a:rPr>
              <a:t>Cannibalization confirmed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01184"/>
            <a:ext cx="11274552" cy="630936"/>
          </a:xfrm>
          <a:prstGeom prst="rect">
            <a:avLst/>
          </a:prstGeom>
          <a:solidFill>
            <a:srgbClr val="1A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5010912"/>
            <a:ext cx="77724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02920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WATCH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0292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Whale Revenue Share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50292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91.0% T  vs  88.7% 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502920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9C12"/>
                </a:solidFill>
                <a:latin typeface="Calibri"/>
              </a:rPr>
              <a:t>Increased concentration risk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669280"/>
            <a:ext cx="11274552" cy="914400"/>
          </a:xfrm>
          <a:prstGeom prst="rect">
            <a:avLst/>
          </a:prstGeom>
          <a:solidFill>
            <a:srgbClr val="0A1430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76072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SUMMARY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053328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No engagement or churn guardrails were triggered. The two WATCH items are known model effects (substitutive pricing for Dolphins; Whale concentration) — not surprises.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1B3E"/>
                </a:solidFill>
                <a:latin typeface="Calibr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Ship Royal Spin — with one fix before broad rollout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VERDICT:  SHIP  —  Royal Spin delivers a statistically meaningful +11% ARPU lift with no engagement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657600" cy="4389120"/>
          </a:xfrm>
          <a:prstGeom prst="rect">
            <a:avLst/>
          </a:prstGeom>
          <a:solidFill>
            <a:srgbClr val="1A2D5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3657600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470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SHIP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042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Roll out Royal Spin to all Whale players on 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•  Strongest signal: iOS Whales saw +11% ARPU and +15% segment ARPU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0215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•  Additive token model means no cannibalization risk for this segment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2394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•  2.12% Royal Token adoption driving 15% of Treatment 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657600" cy="4389120"/>
          </a:xfrm>
          <a:prstGeom prst="rect">
            <a:avLst/>
          </a:prstGeom>
          <a:solidFill>
            <a:srgbClr val="1A2D5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657600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8470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FIX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3042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Redesign Dolphin token pricing before broad rollout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8803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•  Substitutive model cost Dolphins more in lost coin revenue than token revenue gained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50215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•  Net Dolphin loss: $69 across the experiment cohort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12394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•  Consider additive-only token model for Dolphins, or tiered pricing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828800"/>
            <a:ext cx="3657600" cy="4389120"/>
          </a:xfrm>
          <a:prstGeom prst="rect">
            <a:avLst/>
          </a:prstGeom>
          <a:solidFill>
            <a:srgbClr val="1A2D5A"/>
          </a:solidFill>
          <a:ln w="25400">
            <a:solidFill>
              <a:srgbClr val="418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828800"/>
            <a:ext cx="3657600" cy="384048"/>
          </a:xfrm>
          <a:prstGeom prst="rect">
            <a:avLst/>
          </a:prstGeom>
          <a:solidFill>
            <a:srgbClr val="418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8470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3042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Track Whale retention and revenue concentration post-launch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8803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•  Treatment revenue is 91.0% Whale-dependent vs 88.7% in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50215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•  Set up weekly Whale churn alert (&gt;2pp above baseline)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12394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•  Review Android performance separately — only +13% ARPU lift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Royal Flush Casino  |  SpinCrown Studios  |  Data &amp; Analytics  | 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