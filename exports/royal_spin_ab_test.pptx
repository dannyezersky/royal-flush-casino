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457200"/>
            <a:ext cx="5669280" cy="5669280"/>
          </a:xfrm>
          <a:prstGeom prst="ellipse">
            <a:avLst/>
          </a:prstGeom>
          <a:solidFill>
            <a:srgbClr val="142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ROYAL FLUSH CASINO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Royal Spin Feature
A/B Test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29000"/>
            <a:ext cx="11274552" cy="254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Experiment period: July 1 – September 28,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SpinCrown Studios  |  Data &amp; Analytics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4754880"/>
            <a:ext cx="2834640" cy="16459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48463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ARPU LIFT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16636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D4AF37"/>
                </a:solidFill>
                <a:latin typeface="Calibri"/>
              </a:rPr>
              <a:t>+10%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5760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$14.08  →  $15.43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17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Test Setup &amp;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618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4173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Headline Result — ARPU +10%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9631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51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Royal Token Revenue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42316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49631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651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Segment Deep-Dive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5760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307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Platform Breakdown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65760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307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886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Guardrail Metrics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92040"/>
            <a:ext cx="5394960" cy="1005840"/>
          </a:xfrm>
          <a:prstGeom prst="rect">
            <a:avLst/>
          </a:prstGeom>
          <a:solidFill>
            <a:srgbClr val="1A2D5A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6519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1206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Test Setup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Royal Spin — a new premium spin mechanic funded by Royal Tokens (in-app currency)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394960" cy="34747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39496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3E"/>
                </a:solidFill>
                <a:latin typeface="Calibri"/>
              </a:rPr>
              <a:t>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Standard coin-based spins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No Royal Token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~12,500 players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Baseline period: Apr – Jun 2024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97280"/>
            <a:ext cx="5394960" cy="34747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5394960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11556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1B3E"/>
                </a:solidFill>
                <a:latin typeface="Calibri"/>
              </a:rPr>
              <a:t>TREATMENT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Royal Spin mechanic unlocked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Royal Tokens purchasable via IAP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~12,500 players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4747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•  Experiment: Jul – Sep 2024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54880"/>
            <a:ext cx="11274552" cy="1737360"/>
          </a:xfrm>
          <a:prstGeom prst="rect">
            <a:avLst/>
          </a:prstGeom>
          <a:solidFill>
            <a:srgbClr val="0A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Players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50,000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Simulation Period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181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Segments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Minnow · Dolphin · Whale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Platforms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iOS · Android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8463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51663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 · UK · DE · CA · AU · Other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Headline Result — ARPU +10%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Treatment group generated significantly more revenue per user with no engagement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ARPU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$15.43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+10%  vs $14.08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7288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Conversion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8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3.79%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74C3C"/>
                </a:solidFill>
                <a:latin typeface="Calibri"/>
              </a:rPr>
              <a:t>▼ -0.10pp  vs 3.89%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FTD 30-Day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3.11%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+0.13pp  vs 2.98%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1051560"/>
            <a:ext cx="2651760" cy="141732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3144" y="11887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Avg Spins /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44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D4AF37"/>
                </a:solidFill>
                <a:latin typeface="Calibri"/>
              </a:rPr>
              <a:t>49.92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0116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CC71"/>
                </a:solidFill>
                <a:latin typeface="Calibri"/>
              </a:rPr>
              <a:t>▲ +0.20  vs 49.72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97480"/>
            <a:ext cx="11274552" cy="34747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D1 Retention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D7 Retention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271576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1B3E"/>
                </a:solidFill>
                <a:latin typeface="Calibri"/>
              </a:rPr>
              <a:t>D30 Retention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44952"/>
            <a:ext cx="11274552" cy="530352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25.11%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24.90%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31363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22.15%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93592"/>
            <a:ext cx="11274552" cy="530352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Treatment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24.94%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25.90%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36850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21.78%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2519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Calibri"/>
              </a:rPr>
              <a:t>Retention is statistically flat between groups — the Royal Spin feature did not harm engagement.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709160"/>
            <a:ext cx="11274552" cy="178308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800600"/>
            <a:ext cx="109087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KEY TAKEAWAY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166360"/>
            <a:ext cx="10908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Treatment players spent 10% more on average than Control, while session engagement remained identical. The ARPU lift is driven purely by monetisation, not playtime inflation.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Royal Token Revenue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2.00% of Treatment players adopted Royal Tokens — and contributed 15% of all Treatment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303520" cy="4114800"/>
          </a:xfrm>
          <a:prstGeom prst="rect">
            <a:avLst/>
          </a:prstGeom>
          <a:solidFill>
            <a:srgbClr val="1A2D5A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ROYAL TOKEN ADOPTERS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"/>
              </a:rPr>
              <a:t>2.00%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CCCC"/>
                </a:solidFill>
                <a:latin typeface="Calibri"/>
              </a:rPr>
              <a:t>of Treatment players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17520"/>
            <a:ext cx="11274552" cy="127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REVENUE GENERATED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$26,896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  <a:latin typeface="Calibri"/>
              </a:rPr>
              <a:t>in Royal Token transactions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05840"/>
            <a:ext cx="5669280" cy="4114800"/>
          </a:xfrm>
          <a:prstGeom prst="rect">
            <a:avLst/>
          </a:prstGeom>
          <a:solidFill>
            <a:srgbClr val="1A2D5A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TREATMENT REVENUE BREAKDOWN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Coin Purchases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176272"/>
            <a:ext cx="4196602" cy="502920"/>
          </a:xfrm>
          <a:prstGeom prst="rect">
            <a:avLst/>
          </a:prstGeom>
          <a:solidFill>
            <a:srgbClr val="41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97402" y="217627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18CF0"/>
                </a:solidFill>
                <a:latin typeface="Calibri"/>
              </a:rPr>
              <a:t>85.0%  $152,294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Royal Tokens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22192"/>
            <a:ext cx="741157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41957" y="382219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15.0%  $26,896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5166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Total Treatment Revenue: $179,190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57800"/>
            <a:ext cx="11274552" cy="128016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KEY TAKEAWAY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669280"/>
            <a:ext cx="1090879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 small fraction of players drove an outsized share of revenue — a classic high-value cohort effect amplified by the Royal Spin mechanic.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Segment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Whales drove the lift — but Dolphin cannibalization is a concern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3840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784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9784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Control ARPU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9784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Treatment ARPU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97840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978408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1B3E"/>
                </a:solidFill>
                <a:latin typeface="Calibri"/>
              </a:rPr>
              <a:t>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4168"/>
            <a:ext cx="11274552" cy="640080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Whale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508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$380.59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508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$435.60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508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ECC71"/>
                </a:solidFill>
                <a:latin typeface="Calibri"/>
              </a:rPr>
              <a:t>+14.5%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508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Strong lift — additive token model working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002536"/>
            <a:ext cx="11274552" cy="640080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16712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Dolphin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1671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$14.26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1671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$9.99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16712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74C3C"/>
                </a:solidFill>
                <a:latin typeface="Calibri"/>
              </a:rPr>
              <a:t>-29.9%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16712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Cannibalization: Royal Tokens replaced coin spend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60904"/>
            <a:ext cx="11274552" cy="640080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8254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Minnow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2825496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$0.70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28254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$0.56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82549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74C3C"/>
                </a:solidFill>
                <a:latin typeface="Calibri"/>
              </a:rPr>
              <a:t>-20.0%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825496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Calibri"/>
              </a:rPr>
              <a:t>Negligible impact either way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83280"/>
            <a:ext cx="5486400" cy="2286000"/>
          </a:xfrm>
          <a:prstGeom prst="rect">
            <a:avLst/>
          </a:prstGeom>
          <a:solidFill>
            <a:srgbClr val="2C1010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Calibri"/>
              </a:rPr>
              <a:t>DOLPHIN CANNIBALIZATION DETAIL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Coin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886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Royal Token Revenue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$12,179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94760" y="42885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Treatment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$6,149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469087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$2,140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Net change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945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Calibri"/>
              </a:rPr>
              <a:t>$-6,030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5093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+$2,140  =  $3,890 net loss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383280"/>
            <a:ext cx="5486400" cy="2286000"/>
          </a:xfrm>
          <a:prstGeom prst="rect">
            <a:avLst/>
          </a:prstGeom>
          <a:solidFill>
            <a:srgbClr val="0D2A1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4747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CC71"/>
                </a:solidFill>
                <a:latin typeface="Calibri"/>
              </a:rPr>
              <a:t>WHALE REVENUE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3840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Control:    88.2% of group revenue from Whales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4251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Treatment:  92.1% of group revenue from Whales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6634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Treatment is more Whale-dependent — revenue base
is more sensitive to Whale churn.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806440"/>
            <a:ext cx="11274552" cy="77724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897880"/>
            <a:ext cx="109087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RISK: Before full rollout, address Dolphin cannibalization — the substitutive token model cost more in lost coin revenue than it earned in token revenue.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Platform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The Royal Spin lift is an iOS story — Android saw minimal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486400" cy="475488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00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3327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1B3E"/>
                </a:solidFill>
                <a:latin typeface="Calibri"/>
              </a:rPr>
              <a:t>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Control ARPU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$17.54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Treatment ARPU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F37"/>
                </a:solidFill>
                <a:latin typeface="Calibri"/>
              </a:rPr>
              <a:t>$18.37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520440"/>
            <a:ext cx="274320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354787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005840"/>
            <a:ext cx="5486400" cy="4754880"/>
          </a:xfrm>
          <a:prstGeom prst="rect">
            <a:avLst/>
          </a:prstGeom>
          <a:solidFill>
            <a:srgbClr val="1A2D5A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005840"/>
            <a:ext cx="5486400" cy="41148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033271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1B3E"/>
                </a:solidFill>
                <a:latin typeface="Calibri"/>
              </a:rPr>
              <a:t>Android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5544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Control ARPU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874519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$9.31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514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Treatment ARPU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346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4AF37"/>
                </a:solidFill>
                <a:latin typeface="Calibri"/>
              </a:rPr>
              <a:t>$11.27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520440"/>
            <a:ext cx="274320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54787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+21%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897880"/>
            <a:ext cx="11274552" cy="68580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961888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iOS players responded 0x more strongly to the Royal Spin feature than Android players. Prioritise iOS in rollout targeting and marketing spend.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Guardrail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Engagement held firm — revenue concentration is the only structural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3385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D1 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13385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24.94% T  vs  25.11%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13385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No meaningful change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55064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64792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178308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D7 Retention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7830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25.90% T  vs  24.90%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178308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Slight positive trend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04288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414016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43230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43230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D30 Retention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43230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21.78% T  vs  22.15%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432304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Slight dip — monitor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953512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063240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081528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08152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Avg Active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308152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10.6 T  vs  10.7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308152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No churn signal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02736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712464"/>
            <a:ext cx="777240" cy="411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3075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373075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Spins / Session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730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49.92 T  vs  49.72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730752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CC71"/>
                </a:solidFill>
                <a:latin typeface="Calibri"/>
              </a:rPr>
              <a:t>Engagement unchanged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251960"/>
            <a:ext cx="11274552" cy="630936"/>
          </a:xfrm>
          <a:prstGeom prst="rect">
            <a:avLst/>
          </a:prstGeom>
          <a:solidFill>
            <a:srgbClr val="122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4361688"/>
            <a:ext cx="77724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379976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37997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Dolphin 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437997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$9.99 T  vs  $14.26 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4379976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Cannibalization confirmed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01184"/>
            <a:ext cx="11274552" cy="630936"/>
          </a:xfrm>
          <a:prstGeom prst="rect">
            <a:avLst/>
          </a:prstGeom>
          <a:solidFill>
            <a:srgbClr val="1A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5010912"/>
            <a:ext cx="777240" cy="411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0292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0292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Whale Revenue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0292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92.1% T  vs  88.2% 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5029200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39C12"/>
                </a:solidFill>
                <a:latin typeface="Calibri"/>
              </a:rPr>
              <a:t>Increased concentration risk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669280"/>
            <a:ext cx="11274552" cy="914400"/>
          </a:xfrm>
          <a:prstGeom prst="rect">
            <a:avLst/>
          </a:prstGeom>
          <a:solidFill>
            <a:srgbClr val="0A1430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760720"/>
            <a:ext cx="109087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4AF37"/>
                </a:solidFill>
                <a:latin typeface="Calibri"/>
              </a:rPr>
              <a:t>SUMMARY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6053328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No engagement or churn guardrails were triggered. The two WATCH items are known model effects (substitutive pricing for Dolphins; Whale concentration) — not surprises.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1B3E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49808"/>
            <a:ext cx="11457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Ship Royal Spin — with one fix before broad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1274552" cy="685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VERDICT:  SHIP  —  Royal Spin delivers a statistically meaningful +10% ARPU lift with no engagement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3657600" cy="38404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SHIP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Roll out Royal Spin to all Whale players on 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Strongest signal: iOS Whales saw +5% ARPU and +14% segment ARPU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Additive token model means no cannibalization risk for this segment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2.00% Royal Token adoption driving 15% of Treatment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828800"/>
            <a:ext cx="3657600" cy="38404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FIX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Redesign Dolphin token pricing before broad rollout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Substitutive model cost Dolphins more in lost coin revenue than token revenue gained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Net Dolphin loss: $3,890 across the experiment cohort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Consider additive-only token model for Dolphins, or tiered pricing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3657600" cy="4389120"/>
          </a:xfrm>
          <a:prstGeom prst="rect">
            <a:avLst/>
          </a:prstGeom>
          <a:solidFill>
            <a:srgbClr val="1A2D5A"/>
          </a:solidFill>
          <a:ln w="25400">
            <a:solidFill>
              <a:srgbClr val="418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828800"/>
            <a:ext cx="3657600" cy="384048"/>
          </a:xfrm>
          <a:prstGeom prst="rect">
            <a:avLst/>
          </a:prstGeom>
          <a:solidFill>
            <a:srgbClr val="418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84708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3042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Track Whale retention and revenue concentration post-launch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8803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Treatment revenue is 92.1% Whale-dependent vs 88.2% in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502152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Set up weekly Whale churn alert (&gt;2pp above baseline)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123944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•  Review Android performance separately — only +21% ARPU lift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Royal Flush Casino  |  SpinCrown Studios  |  Data &amp; Analytics  | 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