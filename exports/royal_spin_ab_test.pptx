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772400" y="457200"/>
            <a:ext cx="5669280" cy="5669280"/>
          </a:xfrm>
          <a:prstGeom prst="ellipse">
            <a:avLst/>
          </a:prstGeom>
          <a:solidFill>
            <a:srgbClr val="1426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D4AF37"/>
                </a:solidFill>
                <a:latin typeface="Calibri"/>
              </a:rPr>
              <a:t>ROYAL FLUSH CASINO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20240"/>
            <a:ext cx="8229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Royal Spin Feature
A/B Test Results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3429000"/>
            <a:ext cx="11274552" cy="254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361188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CCCCCC"/>
                </a:solidFill>
                <a:latin typeface="Calibri"/>
              </a:rPr>
              <a:t>Experiment period: July 1 – September 28, 2024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977639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CCCCCC"/>
                </a:solidFill>
                <a:latin typeface="Calibri"/>
              </a:rPr>
              <a:t>SpinCrown Studios  |  Data &amp; Analytics</a:t>
            </a:r>
          </a:p>
        </p:txBody>
      </p:sp>
      <p:sp>
        <p:nvSpPr>
          <p:cNvPr id="9" name="Rectangle 8"/>
          <p:cNvSpPr/>
          <p:nvPr/>
        </p:nvSpPr>
        <p:spPr>
          <a:xfrm>
            <a:off x="8961120" y="4754880"/>
            <a:ext cx="2834640" cy="1645920"/>
          </a:xfrm>
          <a:prstGeom prst="rect">
            <a:avLst/>
          </a:prstGeom>
          <a:solidFill>
            <a:srgbClr val="1A2D5A"/>
          </a:solidFill>
          <a:ln w="190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052560" y="4846320"/>
            <a:ext cx="2651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CCCCCC"/>
                </a:solidFill>
                <a:latin typeface="Calibri"/>
              </a:rPr>
              <a:t>ARPU LIFT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0" y="5166360"/>
            <a:ext cx="2651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D4AF37"/>
                </a:solidFill>
                <a:latin typeface="Calibri"/>
              </a:rPr>
              <a:t>+11%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52560" y="576072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Calibri"/>
              </a:rPr>
              <a:t>$13.59  →  $15.15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5743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D1B3E"/>
                </a:solidFill>
                <a:latin typeface="Calibri"/>
              </a:rPr>
              <a:t>Agenda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88720"/>
            <a:ext cx="5394960" cy="1005840"/>
          </a:xfrm>
          <a:prstGeom prst="rect">
            <a:avLst/>
          </a:prstGeom>
          <a:solidFill>
            <a:srgbClr val="1A2D5A"/>
          </a:solidFill>
          <a:ln w="1270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261872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D4AF37"/>
                </a:solidFill>
                <a:latin typeface="Calibri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1732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Test Setup &amp; Methodology</a:t>
            </a:r>
          </a:p>
        </p:txBody>
      </p:sp>
      <p:sp>
        <p:nvSpPr>
          <p:cNvPr id="7" name="Rectangle 6"/>
          <p:cNvSpPr/>
          <p:nvPr/>
        </p:nvSpPr>
        <p:spPr>
          <a:xfrm>
            <a:off x="6309360" y="1188720"/>
            <a:ext cx="5394960" cy="1005840"/>
          </a:xfrm>
          <a:prstGeom prst="rect">
            <a:avLst/>
          </a:prstGeom>
          <a:solidFill>
            <a:srgbClr val="1A2D5A"/>
          </a:solidFill>
          <a:ln w="1270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520" y="1261872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D4AF37"/>
                </a:solidFill>
                <a:latin typeface="Calibri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86600" y="141732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Headline Result — ARPU +11%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423160"/>
            <a:ext cx="5394960" cy="1005840"/>
          </a:xfrm>
          <a:prstGeom prst="rect">
            <a:avLst/>
          </a:prstGeom>
          <a:solidFill>
            <a:srgbClr val="1A2D5A"/>
          </a:solidFill>
          <a:ln w="1270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496312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D4AF37"/>
                </a:solidFill>
                <a:latin typeface="Calibri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265176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Royal Token Revenue Impact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09360" y="2423160"/>
            <a:ext cx="5394960" cy="1005840"/>
          </a:xfrm>
          <a:prstGeom prst="rect">
            <a:avLst/>
          </a:prstGeom>
          <a:solidFill>
            <a:srgbClr val="1A2D5A"/>
          </a:solidFill>
          <a:ln w="1270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2496312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D4AF37"/>
                </a:solidFill>
                <a:latin typeface="Calibri"/>
              </a:rPr>
              <a:t>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86600" y="265176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Segment Deep-Dive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3657600"/>
            <a:ext cx="5394960" cy="1005840"/>
          </a:xfrm>
          <a:prstGeom prst="rect">
            <a:avLst/>
          </a:prstGeom>
          <a:solidFill>
            <a:srgbClr val="1A2D5A"/>
          </a:solidFill>
          <a:ln w="1270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3730752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D4AF37"/>
                </a:solidFill>
                <a:latin typeface="Calibri"/>
              </a:rPr>
              <a:t>05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25880" y="38862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Platform Breakdown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9360" y="3657600"/>
            <a:ext cx="5394960" cy="1005840"/>
          </a:xfrm>
          <a:prstGeom prst="rect">
            <a:avLst/>
          </a:prstGeom>
          <a:solidFill>
            <a:srgbClr val="1A2D5A"/>
          </a:solidFill>
          <a:ln w="1270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46520" y="3730752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D4AF37"/>
                </a:solidFill>
                <a:latin typeface="Calibri"/>
              </a:rPr>
              <a:t>06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86600" y="38862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Guardrail Metrics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4892040"/>
            <a:ext cx="5394960" cy="1005840"/>
          </a:xfrm>
          <a:prstGeom prst="rect">
            <a:avLst/>
          </a:prstGeom>
          <a:solidFill>
            <a:srgbClr val="1A2D5A"/>
          </a:solidFill>
          <a:ln w="1270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965192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D4AF37"/>
                </a:solidFill>
                <a:latin typeface="Calibri"/>
              </a:rPr>
              <a:t>07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25880" y="512064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Recommendation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5743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D1B3E"/>
                </a:solidFill>
                <a:latin typeface="Calibri"/>
              </a:rPr>
              <a:t>Test Setup &amp; 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49808"/>
            <a:ext cx="1145743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CCCCC"/>
                </a:solidFill>
                <a:latin typeface="Calibri"/>
              </a:rPr>
              <a:t>Royal Spin — a new premium spin mechanic funded by Royal Tokens (in-app currency)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97280"/>
            <a:ext cx="5394960" cy="3474720"/>
          </a:xfrm>
          <a:prstGeom prst="rect">
            <a:avLst/>
          </a:prstGeom>
          <a:solidFill>
            <a:srgbClr val="1A2D5A"/>
          </a:solidFill>
          <a:ln w="190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097280"/>
            <a:ext cx="5394960" cy="41148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115568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D1B3E"/>
                </a:solidFill>
                <a:latin typeface="Calibri"/>
              </a:rPr>
              <a:t>CONTROL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691640"/>
            <a:ext cx="4846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•  Standard coin-based spins only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286000"/>
            <a:ext cx="4846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•  No Royal Token currency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880360"/>
            <a:ext cx="4846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•  ~12,500 players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474720"/>
            <a:ext cx="4846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•  Baseline period: Apr – Jun 2024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097280"/>
            <a:ext cx="5394960" cy="3474720"/>
          </a:xfrm>
          <a:prstGeom prst="rect">
            <a:avLst/>
          </a:prstGeom>
          <a:solidFill>
            <a:srgbClr val="1A2D5A"/>
          </a:solidFill>
          <a:ln w="190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17920" y="1097280"/>
            <a:ext cx="5394960" cy="41148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17920" y="1115568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D1B3E"/>
                </a:solidFill>
                <a:latin typeface="Calibri"/>
              </a:rPr>
              <a:t>TREATMENT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1691640"/>
            <a:ext cx="4846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•  Royal Spin mechanic unlocked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2286000"/>
            <a:ext cx="4846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•  Royal Tokens purchasable via IAP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2880360"/>
            <a:ext cx="4846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•  ~12,500 players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3474720"/>
            <a:ext cx="4846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•  Experiment: Jul – Sep 2024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754880"/>
            <a:ext cx="11274552" cy="1737360"/>
          </a:xfrm>
          <a:prstGeom prst="rect">
            <a:avLst/>
          </a:prstGeom>
          <a:solidFill>
            <a:srgbClr val="0A14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484632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D4AF37"/>
                </a:solidFill>
                <a:latin typeface="Calibri"/>
              </a:rPr>
              <a:t>Players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516636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50,000 total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17520" y="484632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D4AF37"/>
                </a:solidFill>
                <a:latin typeface="Calibri"/>
              </a:rPr>
              <a:t>Simulation Period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017520" y="516636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181 days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03520" y="484632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D4AF37"/>
                </a:solidFill>
                <a:latin typeface="Calibri"/>
              </a:rPr>
              <a:t>Segments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516636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Minnow · Dolphin · Whale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0" y="484632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D4AF37"/>
                </a:solidFill>
                <a:latin typeface="Calibri"/>
              </a:rPr>
              <a:t>Platforms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89520" y="516636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iOS · Android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75520" y="484632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D4AF37"/>
                </a:solidFill>
                <a:latin typeface="Calibri"/>
              </a:rPr>
              <a:t>Markets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875520" y="516636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US · UK · DE · CA · AU · Other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5743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D1B3E"/>
                </a:solidFill>
                <a:latin typeface="Calibri"/>
              </a:rPr>
              <a:t>Headline Result — ARPU +11%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49808"/>
            <a:ext cx="1145743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CCCCC"/>
                </a:solidFill>
                <a:latin typeface="Calibri"/>
              </a:rPr>
              <a:t>Treatment group generated significantly more revenue per user with no engagement cost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2651760" cy="1417320"/>
          </a:xfrm>
          <a:prstGeom prst="rect">
            <a:avLst/>
          </a:prstGeom>
          <a:solidFill>
            <a:srgbClr val="1A2D5A"/>
          </a:solidFill>
          <a:ln w="190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18872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CCCCCC"/>
                </a:solidFill>
                <a:latin typeface="Calibri"/>
              </a:rPr>
              <a:t>ARPU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463040"/>
            <a:ext cx="23774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D4AF37"/>
                </a:solidFill>
                <a:latin typeface="Calibri"/>
              </a:rPr>
              <a:t>$15.15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01168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ECC71"/>
                </a:solidFill>
                <a:latin typeface="Calibri"/>
              </a:rPr>
              <a:t>▲ +11%  vs $13.59</a:t>
            </a:r>
          </a:p>
        </p:txBody>
      </p:sp>
      <p:sp>
        <p:nvSpPr>
          <p:cNvPr id="9" name="Rectangle 8"/>
          <p:cNvSpPr/>
          <p:nvPr/>
        </p:nvSpPr>
        <p:spPr>
          <a:xfrm>
            <a:off x="3310128" y="1051560"/>
            <a:ext cx="2651760" cy="1417320"/>
          </a:xfrm>
          <a:prstGeom prst="rect">
            <a:avLst/>
          </a:prstGeom>
          <a:solidFill>
            <a:srgbClr val="1A2D5A"/>
          </a:solidFill>
          <a:ln w="190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47288" y="118872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CCCCCC"/>
                </a:solidFill>
                <a:latin typeface="Calibri"/>
              </a:rPr>
              <a:t>Conversion Rate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47288" y="1463040"/>
            <a:ext cx="23774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D4AF37"/>
                </a:solidFill>
                <a:latin typeface="Calibri"/>
              </a:rPr>
              <a:t>4.07%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47288" y="201168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ECC71"/>
                </a:solidFill>
                <a:latin typeface="Calibri"/>
              </a:rPr>
              <a:t>▲ +0.10pp  vs 3.97%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63056" y="1051560"/>
            <a:ext cx="2651760" cy="1417320"/>
          </a:xfrm>
          <a:prstGeom prst="rect">
            <a:avLst/>
          </a:prstGeom>
          <a:solidFill>
            <a:srgbClr val="1A2D5A"/>
          </a:solidFill>
          <a:ln w="190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0216" y="118872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CCCCCC"/>
                </a:solidFill>
                <a:latin typeface="Calibri"/>
              </a:rPr>
              <a:t>FTD 30-Day Rate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0216" y="1463040"/>
            <a:ext cx="23774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D4AF37"/>
                </a:solidFill>
                <a:latin typeface="Calibri"/>
              </a:rPr>
              <a:t>2.83%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0216" y="201168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E74C3C"/>
                </a:solidFill>
                <a:latin typeface="Calibri"/>
              </a:rPr>
              <a:t>▼ -0.33pp  vs 3.16%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015984" y="1051560"/>
            <a:ext cx="2651760" cy="1417320"/>
          </a:xfrm>
          <a:prstGeom prst="rect">
            <a:avLst/>
          </a:prstGeom>
          <a:solidFill>
            <a:srgbClr val="1A2D5A"/>
          </a:solidFill>
          <a:ln w="190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53144" y="118872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CCCCCC"/>
                </a:solidFill>
                <a:latin typeface="Calibri"/>
              </a:rPr>
              <a:t>Avg Spins / Session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53144" y="1463040"/>
            <a:ext cx="23774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D4AF37"/>
                </a:solidFill>
                <a:latin typeface="Calibri"/>
              </a:rPr>
              <a:t>49.52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53144" y="201168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E74C3C"/>
                </a:solidFill>
                <a:latin typeface="Calibri"/>
              </a:rPr>
              <a:t>▼ -0.87  vs 50.39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2697480"/>
            <a:ext cx="11274552" cy="347472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2715768"/>
            <a:ext cx="25603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0D1B3E"/>
                </a:solidFill>
                <a:latin typeface="Calibri"/>
              </a:rPr>
              <a:t/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91840" y="2715768"/>
            <a:ext cx="25603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0D1B3E"/>
                </a:solidFill>
                <a:latin typeface="Calibri"/>
              </a:rPr>
              <a:t>D1 Retention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35040" y="2715768"/>
            <a:ext cx="25603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0D1B3E"/>
                </a:solidFill>
                <a:latin typeface="Calibri"/>
              </a:rPr>
              <a:t>D7 Retention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78240" y="2715768"/>
            <a:ext cx="25603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0D1B3E"/>
                </a:solidFill>
                <a:latin typeface="Calibri"/>
              </a:rPr>
              <a:t>D30 Retention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044952"/>
            <a:ext cx="11274552" cy="530352"/>
          </a:xfrm>
          <a:prstGeom prst="rect">
            <a:avLst/>
          </a:prstGeom>
          <a:solidFill>
            <a:srgbClr val="122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8640" y="3136392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D4AF37"/>
                </a:solidFill>
                <a:latin typeface="Calibri"/>
              </a:rPr>
              <a:t>Control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91840" y="3136392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  <a:latin typeface="Calibri"/>
              </a:rPr>
              <a:t>26.26%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35040" y="3136392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  <a:latin typeface="Calibri"/>
              </a:rPr>
              <a:t>25.29%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78240" y="3136392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  <a:latin typeface="Calibri"/>
              </a:rPr>
              <a:t>21.75%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3593592"/>
            <a:ext cx="11274552" cy="530352"/>
          </a:xfrm>
          <a:prstGeom prst="rect">
            <a:avLst/>
          </a:prstGeom>
          <a:solidFill>
            <a:srgbClr val="1A2D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3685032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D4AF37"/>
                </a:solidFill>
                <a:latin typeface="Calibri"/>
              </a:rPr>
              <a:t>Treatment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291840" y="3685032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  <a:latin typeface="Calibri"/>
              </a:rPr>
              <a:t>25.93%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35040" y="3685032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  <a:latin typeface="Calibri"/>
              </a:rPr>
              <a:t>25.78%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778240" y="3685032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  <a:latin typeface="Calibri"/>
              </a:rPr>
              <a:t>22.52%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4251960"/>
            <a:ext cx="112745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CCCCCC"/>
                </a:solidFill>
                <a:latin typeface="Calibri"/>
              </a:rPr>
              <a:t>Retention is statistically flat between groups — the Royal Spin feature did not harm engagement.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4709160"/>
            <a:ext cx="11274552" cy="1783080"/>
          </a:xfrm>
          <a:prstGeom prst="rect">
            <a:avLst/>
          </a:prstGeom>
          <a:solidFill>
            <a:srgbClr val="0A1430"/>
          </a:solidFill>
          <a:ln w="2540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0080" y="4800600"/>
            <a:ext cx="109087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D4AF37"/>
                </a:solidFill>
                <a:latin typeface="Calibri"/>
              </a:rPr>
              <a:t>KEY TAKEAWAY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" y="5166360"/>
            <a:ext cx="1090879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Treatment players spent 11% more on average than Control, while session engagement remained identical. The ARPU lift is driven purely by monetisation, not playtime inflation.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5743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D1B3E"/>
                </a:solidFill>
                <a:latin typeface="Calibri"/>
              </a:rPr>
              <a:t>Royal Token Revenue Impact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49808"/>
            <a:ext cx="1145743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CCCCC"/>
                </a:solidFill>
                <a:latin typeface="Calibri"/>
              </a:rPr>
              <a:t>2.12% of Treatment players adopted Royal Tokens — and contributed 15% of all Treatment revenue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5303520" cy="4114800"/>
          </a:xfrm>
          <a:prstGeom prst="rect">
            <a:avLst/>
          </a:prstGeom>
          <a:solidFill>
            <a:srgbClr val="1A2D5A"/>
          </a:solidFill>
          <a:ln w="2540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18872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D4AF37"/>
                </a:solidFill>
                <a:latin typeface="Calibri"/>
              </a:rPr>
              <a:t>ROYAL TOKEN ADOPTERS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54480"/>
            <a:ext cx="49377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0" b="1">
                <a:solidFill>
                  <a:srgbClr val="FFFFFF"/>
                </a:solidFill>
                <a:latin typeface="Calibri"/>
              </a:rPr>
              <a:t>2.12%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51460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CCCCCC"/>
                </a:solidFill>
                <a:latin typeface="Calibri"/>
              </a:rPr>
              <a:t>of Treatment players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3017520"/>
            <a:ext cx="11274552" cy="1270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15468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D4AF37"/>
                </a:solidFill>
                <a:latin typeface="Calibri"/>
              </a:rPr>
              <a:t>REVENUE GENERATED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474720"/>
            <a:ext cx="4937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Calibri"/>
              </a:rPr>
              <a:t>$27,146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06908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CCCCCC"/>
                </a:solidFill>
                <a:latin typeface="Calibri"/>
              </a:rPr>
              <a:t>in Royal Token transactions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26480" y="1005840"/>
            <a:ext cx="5669280" cy="4114800"/>
          </a:xfrm>
          <a:prstGeom prst="rect">
            <a:avLst/>
          </a:prstGeom>
          <a:solidFill>
            <a:srgbClr val="1A2D5A"/>
          </a:solidFill>
          <a:ln w="2540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60" y="118872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D4AF37"/>
                </a:solidFill>
                <a:latin typeface="Calibri"/>
              </a:rPr>
              <a:t>TREATMENT REVENUE BREAKDOWN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182880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Coin Purchases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09360" y="2176272"/>
            <a:ext cx="4182282" cy="502920"/>
          </a:xfrm>
          <a:prstGeom prst="rect">
            <a:avLst/>
          </a:prstGeom>
          <a:solidFill>
            <a:srgbClr val="418C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83082" y="2176272"/>
            <a:ext cx="137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418CF0"/>
                </a:solidFill>
                <a:latin typeface="Calibri"/>
              </a:rPr>
              <a:t>84.7%  $150,226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347472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Royal Tokens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9360" y="3822192"/>
            <a:ext cx="755477" cy="50292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156277" y="3822192"/>
            <a:ext cx="137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D4AF37"/>
                </a:solidFill>
                <a:latin typeface="Calibri"/>
              </a:rPr>
              <a:t>15.3%  $27,146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516636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Total Treatment Revenue: $177,372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5257800"/>
            <a:ext cx="11274552" cy="1280160"/>
          </a:xfrm>
          <a:prstGeom prst="rect">
            <a:avLst/>
          </a:prstGeom>
          <a:solidFill>
            <a:srgbClr val="0A1430"/>
          </a:solidFill>
          <a:ln w="2540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5349240"/>
            <a:ext cx="1090879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D4AF37"/>
                </a:solidFill>
                <a:latin typeface="Calibri"/>
              </a:rPr>
              <a:t>KEY TAKEAWAY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5669280"/>
            <a:ext cx="1090879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A small fraction of players drove an outsized share of revenue — a classic high-value cohort effect amplified by the Royal Spin mechanic.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5743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D1B3E"/>
                </a:solidFill>
                <a:latin typeface="Calibri"/>
              </a:rPr>
              <a:t>Segment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49808"/>
            <a:ext cx="1145743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CCCCC"/>
                </a:solidFill>
                <a:latin typeface="Calibri"/>
              </a:rPr>
              <a:t>Whales drove the lift — but Dolphin cannibalization is a concern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60120"/>
            <a:ext cx="11274552" cy="384048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78408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D1B3E"/>
                </a:solidFill>
                <a:latin typeface="Calibri"/>
              </a:rPr>
              <a:t>Segment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31720" y="978408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D1B3E"/>
                </a:solidFill>
                <a:latin typeface="Calibri"/>
              </a:rPr>
              <a:t>Control ARPU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43400" y="978408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D1B3E"/>
                </a:solidFill>
                <a:latin typeface="Calibri"/>
              </a:rPr>
              <a:t>Treatment ARPU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29400" y="978408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D1B3E"/>
                </a:solidFill>
                <a:latin typeface="Calibri"/>
              </a:rPr>
              <a:t>Delta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75320" y="978408"/>
            <a:ext cx="3931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D1B3E"/>
                </a:solidFill>
                <a:latin typeface="Calibri"/>
              </a:rPr>
              <a:t>Signal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1344168"/>
            <a:ext cx="11274552" cy="640080"/>
          </a:xfrm>
          <a:prstGeom prst="rect">
            <a:avLst/>
          </a:prstGeom>
          <a:solidFill>
            <a:srgbClr val="1A2D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D4AF37"/>
                </a:solidFill>
                <a:latin typeface="Calibri"/>
              </a:rPr>
              <a:t>Whale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31720" y="150876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$361.81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43400" y="150876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$416.04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1508760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ECC71"/>
                </a:solidFill>
                <a:latin typeface="Calibri"/>
              </a:rPr>
              <a:t>+15.0%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75320" y="150876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CCCCC"/>
                </a:solidFill>
                <a:latin typeface="Calibri"/>
              </a:rPr>
              <a:t>Strong lift — additive token model working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2002536"/>
            <a:ext cx="11274552" cy="640080"/>
          </a:xfrm>
          <a:prstGeom prst="rect">
            <a:avLst/>
          </a:prstGeom>
          <a:solidFill>
            <a:srgbClr val="122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2167128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D4AF37"/>
                </a:solidFill>
                <a:latin typeface="Calibri"/>
              </a:rPr>
              <a:t>Dolphin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31720" y="2167128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$13.86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43400" y="2167128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$13.72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29400" y="2167128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39C12"/>
                </a:solidFill>
                <a:latin typeface="Calibri"/>
              </a:rPr>
              <a:t>-1.0%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75320" y="2167128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CCCCC"/>
                </a:solidFill>
                <a:latin typeface="Calibri"/>
              </a:rPr>
              <a:t>Cannibalization: Royal Tokens replaced coin spend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2660904"/>
            <a:ext cx="11274552" cy="640080"/>
          </a:xfrm>
          <a:prstGeom prst="rect">
            <a:avLst/>
          </a:prstGeom>
          <a:solidFill>
            <a:srgbClr val="1A2D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920" y="2825496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D4AF37"/>
                </a:solidFill>
                <a:latin typeface="Calibri"/>
              </a:rPr>
              <a:t>Minnow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31720" y="2825496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$0.59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43400" y="2825496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$0.40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29400" y="2825496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E74C3C"/>
                </a:solidFill>
                <a:latin typeface="Calibri"/>
              </a:rPr>
              <a:t>-32.2%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75320" y="2825496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CCCCC"/>
                </a:solidFill>
                <a:latin typeface="Calibri"/>
              </a:rPr>
              <a:t>Negligible impact either way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3383280"/>
            <a:ext cx="5486400" cy="2286000"/>
          </a:xfrm>
          <a:prstGeom prst="rect">
            <a:avLst/>
          </a:prstGeom>
          <a:solidFill>
            <a:srgbClr val="2C1010"/>
          </a:solidFill>
          <a:ln w="1905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3474720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74C3C"/>
                </a:solidFill>
                <a:latin typeface="Calibri"/>
              </a:rPr>
              <a:t>DOLPHIN CANNIBALIZATION DETAIL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" y="388620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D4AF37"/>
                </a:solidFill>
                <a:latin typeface="Calibri"/>
              </a:rPr>
              <a:t/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194560" y="388620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D4AF37"/>
                </a:solidFill>
                <a:latin typeface="Calibri"/>
              </a:rPr>
              <a:t>Coin Revenue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94760" y="388620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D4AF37"/>
                </a:solidFill>
                <a:latin typeface="Calibri"/>
              </a:rPr>
              <a:t>Royal Token Revenue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4360" y="4288536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Control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194560" y="4288536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$11,813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794760" y="4288536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4360" y="4690872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Treatment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194560" y="4690872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$9,205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94760" y="4690872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$2,539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94360" y="5093208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Net change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194560" y="5093208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74C3C"/>
                </a:solidFill>
                <a:latin typeface="Calibri"/>
              </a:rPr>
              <a:t>$-2,608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794760" y="5093208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+$2,539  =  $69 net loss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309360" y="3383280"/>
            <a:ext cx="5486400" cy="2286000"/>
          </a:xfrm>
          <a:prstGeom prst="rect">
            <a:avLst/>
          </a:prstGeom>
          <a:solidFill>
            <a:srgbClr val="0D2A1A"/>
          </a:solidFill>
          <a:ln w="1905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492240" y="3474720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ECC71"/>
                </a:solidFill>
                <a:latin typeface="Calibri"/>
              </a:rPr>
              <a:t>WHALE REVENUE SHARE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92240" y="384048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Control:    88.7% of group revenue from Whales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92240" y="425196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Treatment:  91.0% of group revenue from Whales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92240" y="4663440"/>
            <a:ext cx="5120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39C12"/>
                </a:solidFill>
                <a:latin typeface="Calibri"/>
              </a:rPr>
              <a:t>Treatment is more Whale-dependent — revenue base
is more sensitive to Whale churn.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7200" y="5806440"/>
            <a:ext cx="11274552" cy="777240"/>
          </a:xfrm>
          <a:prstGeom prst="rect">
            <a:avLst/>
          </a:prstGeom>
          <a:solidFill>
            <a:srgbClr val="0A1430"/>
          </a:solidFill>
          <a:ln w="2540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40080" y="5897880"/>
            <a:ext cx="1090879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RISK: Before full rollout, address Dolphin cannibalization — the substitutive token model cost more in lost coin revenue than it earned in token revenue.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5743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D1B3E"/>
                </a:solidFill>
                <a:latin typeface="Calibri"/>
              </a:rPr>
              <a:t>Platform Breakdown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49808"/>
            <a:ext cx="1145743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CCCCC"/>
                </a:solidFill>
                <a:latin typeface="Calibri"/>
              </a:rPr>
              <a:t>The Royal Spin lift is an iOS story — Android saw minimal impact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5486400" cy="4754880"/>
          </a:xfrm>
          <a:prstGeom prst="rect">
            <a:avLst/>
          </a:prstGeom>
          <a:solidFill>
            <a:srgbClr val="1A2D5A"/>
          </a:solidFill>
          <a:ln w="190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005840"/>
            <a:ext cx="5486400" cy="41148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033271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0D1B3E"/>
                </a:solidFill>
                <a:latin typeface="Calibri"/>
              </a:rPr>
              <a:t>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554480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CCCCCC"/>
                </a:solidFill>
                <a:latin typeface="Calibri"/>
              </a:rPr>
              <a:t>Control ARPU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874519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FFFFFF"/>
                </a:solidFill>
                <a:latin typeface="Calibri"/>
              </a:rPr>
              <a:t>$16.55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514600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CCCCCC"/>
                </a:solidFill>
                <a:latin typeface="Calibri"/>
              </a:rPr>
              <a:t>Treatment ARPU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834640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D4AF37"/>
                </a:solidFill>
                <a:latin typeface="Calibri"/>
              </a:rPr>
              <a:t>$18.37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828800" y="3520440"/>
            <a:ext cx="2743200" cy="54864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828800" y="3547872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+11%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0" y="1005840"/>
            <a:ext cx="5486400" cy="4754880"/>
          </a:xfrm>
          <a:prstGeom prst="rect">
            <a:avLst/>
          </a:prstGeom>
          <a:solidFill>
            <a:srgbClr val="1A2D5A"/>
          </a:solidFill>
          <a:ln w="190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0" y="1005840"/>
            <a:ext cx="5486400" cy="41148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1033271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0D1B3E"/>
                </a:solidFill>
                <a:latin typeface="Calibri"/>
              </a:rPr>
              <a:t>Android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1554480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CCCCCC"/>
                </a:solidFill>
                <a:latin typeface="Calibri"/>
              </a:rPr>
              <a:t>Control ARPU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1874519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FFFFFF"/>
                </a:solidFill>
                <a:latin typeface="Calibri"/>
              </a:rPr>
              <a:t>$9.66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2514600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CCCCCC"/>
                </a:solidFill>
                <a:latin typeface="Calibri"/>
              </a:rPr>
              <a:t>Treatment ARPU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2834640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D4AF37"/>
                </a:solidFill>
                <a:latin typeface="Calibri"/>
              </a:rPr>
              <a:t>$10.88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72400" y="3520440"/>
            <a:ext cx="2743200" cy="54864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0" y="3547872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+13%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5897880"/>
            <a:ext cx="11274552" cy="685800"/>
          </a:xfrm>
          <a:prstGeom prst="rect">
            <a:avLst/>
          </a:prstGeom>
          <a:solidFill>
            <a:srgbClr val="0A1430"/>
          </a:solidFill>
          <a:ln w="2540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5961888"/>
            <a:ext cx="109087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iOS players responded 1x more strongly to the Royal Spin feature than Android players. Prioritise iOS in rollout targeting and marketing spend.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5743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D1B3E"/>
                </a:solidFill>
                <a:latin typeface="Calibri"/>
              </a:rPr>
              <a:t>Guardrail 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49808"/>
            <a:ext cx="1145743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CCCCC"/>
                </a:solidFill>
                <a:latin typeface="Calibri"/>
              </a:rPr>
              <a:t>Engagement held firm — revenue concentration is the only structural risk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74552" cy="630936"/>
          </a:xfrm>
          <a:prstGeom prst="rect">
            <a:avLst/>
          </a:prstGeom>
          <a:solidFill>
            <a:srgbClr val="1A2D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115568"/>
            <a:ext cx="777240" cy="411480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133856"/>
            <a:ext cx="777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PASS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133856"/>
            <a:ext cx="2926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D1 Retention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97680" y="1133856"/>
            <a:ext cx="3657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CCCCC"/>
                </a:solidFill>
                <a:latin typeface="Calibri"/>
              </a:rPr>
              <a:t>25.93% T  vs  26.26% 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55279" y="1133856"/>
            <a:ext cx="3931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ECC71"/>
                </a:solidFill>
                <a:latin typeface="Calibri"/>
              </a:rPr>
              <a:t>No meaningful change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1655064"/>
            <a:ext cx="11274552" cy="630936"/>
          </a:xfrm>
          <a:prstGeom prst="rect">
            <a:avLst/>
          </a:prstGeom>
          <a:solidFill>
            <a:srgbClr val="122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1764792"/>
            <a:ext cx="777240" cy="411480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1783080"/>
            <a:ext cx="777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PASS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1783080"/>
            <a:ext cx="2926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D7 Retention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1783080"/>
            <a:ext cx="3657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CCCCC"/>
                </a:solidFill>
                <a:latin typeface="Calibri"/>
              </a:rPr>
              <a:t>25.78% T  vs  25.29% 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79" y="1783080"/>
            <a:ext cx="3931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ECC71"/>
                </a:solidFill>
                <a:latin typeface="Calibri"/>
              </a:rPr>
              <a:t>Slight positive trend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2304288"/>
            <a:ext cx="11274552" cy="630936"/>
          </a:xfrm>
          <a:prstGeom prst="rect">
            <a:avLst/>
          </a:prstGeom>
          <a:solidFill>
            <a:srgbClr val="1A2D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2414016"/>
            <a:ext cx="777240" cy="411480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2432304"/>
            <a:ext cx="777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PASS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2432304"/>
            <a:ext cx="2926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D30 Retention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97680" y="2432304"/>
            <a:ext cx="3657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CCCCC"/>
                </a:solidFill>
                <a:latin typeface="Calibri"/>
              </a:rPr>
              <a:t>22.52% T  vs  21.75% 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55279" y="2432304"/>
            <a:ext cx="3931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ECC71"/>
                </a:solidFill>
                <a:latin typeface="Calibri"/>
              </a:rPr>
              <a:t>Slight positive trend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2953512"/>
            <a:ext cx="11274552" cy="630936"/>
          </a:xfrm>
          <a:prstGeom prst="rect">
            <a:avLst/>
          </a:prstGeom>
          <a:solidFill>
            <a:srgbClr val="122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02920" y="3063240"/>
            <a:ext cx="777240" cy="411480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2920" y="3081528"/>
            <a:ext cx="777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PASS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71600" y="3081528"/>
            <a:ext cx="2926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Avg Active Days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97680" y="3081528"/>
            <a:ext cx="3657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CCCCC"/>
                </a:solidFill>
                <a:latin typeface="Calibri"/>
              </a:rPr>
              <a:t>10.8 T  vs  10.7 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55279" y="3081528"/>
            <a:ext cx="3931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ECC71"/>
                </a:solidFill>
                <a:latin typeface="Calibri"/>
              </a:rPr>
              <a:t>No churn signal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3602736"/>
            <a:ext cx="11274552" cy="630936"/>
          </a:xfrm>
          <a:prstGeom prst="rect">
            <a:avLst/>
          </a:prstGeom>
          <a:solidFill>
            <a:srgbClr val="1A2D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02920" y="3712464"/>
            <a:ext cx="777240" cy="411480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920" y="3730752"/>
            <a:ext cx="777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PASS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71600" y="3730752"/>
            <a:ext cx="2926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Spins / Session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97680" y="3730752"/>
            <a:ext cx="3657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CCCCC"/>
                </a:solidFill>
                <a:latin typeface="Calibri"/>
              </a:rPr>
              <a:t>49.52 T  vs  50.39 C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955279" y="3730752"/>
            <a:ext cx="3931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ECC71"/>
                </a:solidFill>
                <a:latin typeface="Calibri"/>
              </a:rPr>
              <a:t>Engagement unchanged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4251960"/>
            <a:ext cx="11274552" cy="630936"/>
          </a:xfrm>
          <a:prstGeom prst="rect">
            <a:avLst/>
          </a:prstGeom>
          <a:solidFill>
            <a:srgbClr val="122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02920" y="4361688"/>
            <a:ext cx="777240" cy="41148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2920" y="4379976"/>
            <a:ext cx="777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WATCH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371600" y="4379976"/>
            <a:ext cx="2926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Dolphin Revenue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297680" y="4379976"/>
            <a:ext cx="3657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CCCCC"/>
                </a:solidFill>
                <a:latin typeface="Calibri"/>
              </a:rPr>
              <a:t>$13.72 T  vs  $13.86 C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955279" y="4379976"/>
            <a:ext cx="3931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39C12"/>
                </a:solidFill>
                <a:latin typeface="Calibri"/>
              </a:rPr>
              <a:t>Cannibalization confirmed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57200" y="4901184"/>
            <a:ext cx="11274552" cy="630936"/>
          </a:xfrm>
          <a:prstGeom prst="rect">
            <a:avLst/>
          </a:prstGeom>
          <a:solidFill>
            <a:srgbClr val="1A2D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02920" y="5010912"/>
            <a:ext cx="777240" cy="41148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02920" y="5029200"/>
            <a:ext cx="777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WATCH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371600" y="5029200"/>
            <a:ext cx="2926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Whale Revenue Share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80" y="5029200"/>
            <a:ext cx="3657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CCCCC"/>
                </a:solidFill>
                <a:latin typeface="Calibri"/>
              </a:rPr>
              <a:t>91.0% T  vs  88.7% C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955279" y="5029200"/>
            <a:ext cx="3931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39C12"/>
                </a:solidFill>
                <a:latin typeface="Calibri"/>
              </a:rPr>
              <a:t>Increased concentration risk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57200" y="5669280"/>
            <a:ext cx="11274552" cy="914400"/>
          </a:xfrm>
          <a:prstGeom prst="rect">
            <a:avLst/>
          </a:prstGeom>
          <a:solidFill>
            <a:srgbClr val="0A1430"/>
          </a:solidFill>
          <a:ln w="2540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40080" y="5760720"/>
            <a:ext cx="1090879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D4AF37"/>
                </a:solidFill>
                <a:latin typeface="Calibri"/>
              </a:rPr>
              <a:t>SUMMARY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40080" y="6053328"/>
            <a:ext cx="109087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No engagement or churn guardrails were triggered. The two WATCH items are known model effects (substitutive pricing for Dolphins; Whale concentration) — not surprises.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5743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D1B3E"/>
                </a:solidFill>
                <a:latin typeface="Calibri"/>
              </a:rPr>
              <a:t>Recommendation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49808"/>
            <a:ext cx="1145743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CCCCC"/>
                </a:solidFill>
                <a:latin typeface="Calibri"/>
              </a:rPr>
              <a:t>Ship Royal Spin — with one fix before broad rollout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60120"/>
            <a:ext cx="11274552" cy="685800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987552"/>
            <a:ext cx="11274552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VERDICT:  SHIP  —  Royal Spin delivers a statistically meaningful +11% ARPU lift with no engagement cost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28800"/>
            <a:ext cx="3657600" cy="4389120"/>
          </a:xfrm>
          <a:prstGeom prst="rect">
            <a:avLst/>
          </a:prstGeom>
          <a:solidFill>
            <a:srgbClr val="1A2D5A"/>
          </a:solidFill>
          <a:ln w="254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828800"/>
            <a:ext cx="3657600" cy="384048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847088"/>
            <a:ext cx="3657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SHIP NOW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304288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Roll out Royal Spin to all Whale players on iOS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880360"/>
            <a:ext cx="3383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CCCCC"/>
                </a:solidFill>
                <a:latin typeface="Calibri"/>
              </a:rPr>
              <a:t>•  Strongest signal: iOS Whales saw +11% ARPU and +15% segment ARPU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3502152"/>
            <a:ext cx="3383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CCCCC"/>
                </a:solidFill>
                <a:latin typeface="Calibri"/>
              </a:rPr>
              <a:t>•  Additive token model means no cannibalization risk for this segment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4123944"/>
            <a:ext cx="3383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CCCCC"/>
                </a:solidFill>
                <a:latin typeface="Calibri"/>
              </a:rPr>
              <a:t>•  2.12% Royal Token adoption driving 15% of Treatment revenue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43400" y="1828800"/>
            <a:ext cx="3657600" cy="4389120"/>
          </a:xfrm>
          <a:prstGeom prst="rect">
            <a:avLst/>
          </a:prstGeom>
          <a:solidFill>
            <a:srgbClr val="1A2D5A"/>
          </a:solidFill>
          <a:ln w="254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43400" y="1828800"/>
            <a:ext cx="3657600" cy="384048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43400" y="1847088"/>
            <a:ext cx="3657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FIX FIRST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2304288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Redesign Dolphin token pricing before broad rollout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60" y="2880360"/>
            <a:ext cx="3383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CCCCC"/>
                </a:solidFill>
                <a:latin typeface="Calibri"/>
              </a:rPr>
              <a:t>•  Substitutive model cost Dolphins more in lost coin revenue than token revenue gained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0560" y="3502152"/>
            <a:ext cx="3383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CCCCC"/>
                </a:solidFill>
                <a:latin typeface="Calibri"/>
              </a:rPr>
              <a:t>•  Net Dolphin loss: $69 across the experiment cohort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0560" y="4123944"/>
            <a:ext cx="3383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CCCCC"/>
                </a:solidFill>
                <a:latin typeface="Calibri"/>
              </a:rPr>
              <a:t>•  Consider additive-only token model for Dolphins, or tiered pricing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0" y="1828800"/>
            <a:ext cx="3657600" cy="4389120"/>
          </a:xfrm>
          <a:prstGeom prst="rect">
            <a:avLst/>
          </a:prstGeom>
          <a:solidFill>
            <a:srgbClr val="1A2D5A"/>
          </a:solidFill>
          <a:ln w="25400">
            <a:solidFill>
              <a:srgbClr val="418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0" y="1828800"/>
            <a:ext cx="3657600" cy="384048"/>
          </a:xfrm>
          <a:prstGeom prst="rect">
            <a:avLst/>
          </a:prstGeom>
          <a:solidFill>
            <a:srgbClr val="418C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0" y="1847088"/>
            <a:ext cx="3657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MONITOR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66760" y="2304288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Track Whale retention and revenue concentration post-launch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66760" y="2880360"/>
            <a:ext cx="3383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CCCCC"/>
                </a:solidFill>
                <a:latin typeface="Calibri"/>
              </a:rPr>
              <a:t>•  Treatment revenue is 91.0% Whale-dependent vs 88.7% in Control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66760" y="3502152"/>
            <a:ext cx="3383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CCCCC"/>
                </a:solidFill>
                <a:latin typeface="Calibri"/>
              </a:rPr>
              <a:t>•  Set up weekly Whale churn alert (&gt;2pp above baseline)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66760" y="4123944"/>
            <a:ext cx="3383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CCCCC"/>
                </a:solidFill>
                <a:latin typeface="Calibri"/>
              </a:rPr>
              <a:t>•  Review Android performance separately — only +13% ARPU lift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6492240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555555"/>
                </a:solidFill>
                <a:latin typeface="Calibri"/>
              </a:rPr>
              <a:t>Royal Flush Casino  |  SpinCrown Studios  |  Data &amp; Analytics  |  2024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